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</p:spPr>
      </p:sp>
      <p:sp>
        <p:nvSpPr>
          <p:cNvPr id="3" name="Shape 1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4" name="Shape 2"/>
          <p:cNvSpPr/>
          <p:nvPr/>
        </p:nvSpPr>
        <p:spPr>
          <a:xfrm>
            <a:off x="10012680" y="548640"/>
            <a:ext cx="54864" cy="5486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5" name="Shape 3"/>
          <p:cNvSpPr/>
          <p:nvPr/>
        </p:nvSpPr>
        <p:spPr>
          <a:xfrm>
            <a:off x="10332720" y="548640"/>
            <a:ext cx="54864" cy="5486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Shape 4"/>
          <p:cNvSpPr/>
          <p:nvPr/>
        </p:nvSpPr>
        <p:spPr>
          <a:xfrm>
            <a:off x="10652760" y="548640"/>
            <a:ext cx="54864" cy="5486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7" name="Shape 5"/>
          <p:cNvSpPr/>
          <p:nvPr/>
        </p:nvSpPr>
        <p:spPr>
          <a:xfrm>
            <a:off x="10972800" y="548640"/>
            <a:ext cx="54864" cy="5486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8" name="Shape 6"/>
          <p:cNvSpPr/>
          <p:nvPr/>
        </p:nvSpPr>
        <p:spPr>
          <a:xfrm>
            <a:off x="11292840" y="548640"/>
            <a:ext cx="54864" cy="54864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9" name="Image 0" descr="icon_microch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EMBEDDED SERIAL PROTOCOLS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94360" y="1737360"/>
            <a:ext cx="100584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SBUS vs IBUS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40080" y="297180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RC Receiver Communication Protocols — From Basics to Implementation 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512064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25 vs 32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0080" y="56235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PACKET BYTES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931920" y="512064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 vs 14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931920" y="56235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23760" y="512064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100k vs 115.2k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223760" y="56235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BAUD RATE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C89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for team knowledge-share  |  STM32CubeIDE  |  HAL Driver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809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AGENDA</a:t>
            </a:r>
            <a:endParaRPr lang="en-US" b="1" kern="0" spc="200" dirty="0">
              <a:solidFill>
                <a:srgbClr val="02809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What we'll cover</a:t>
            </a:r>
            <a:endParaRPr lang="en-US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01</a:t>
            </a:r>
            <a:endParaRPr lang="en-US" b="1" dirty="0">
              <a:solidFill>
                <a:srgbClr val="02C39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What is SBUS &amp; IBUS</a:t>
            </a:r>
            <a:endParaRPr lang="en-US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1847088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Origins, purpose, and where they're used in RC/flight-control systems</a:t>
            </a:r>
            <a:endParaRPr lang="en-US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02</a:t>
            </a:r>
            <a:endParaRPr lang="en-US" b="1" dirty="0">
              <a:solidFill>
                <a:srgbClr val="02C39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2212848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Protocol Fundamentals</a:t>
            </a:r>
            <a:endParaRPr lang="en-US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80160" y="2505456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Baud rate, framing, parity, signal polarity — the wire-level basics</a:t>
            </a:r>
            <a:endParaRPr lang="en-US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03</a:t>
            </a:r>
            <a:endParaRPr lang="en-US" b="1" dirty="0">
              <a:solidFill>
                <a:srgbClr val="02C39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2871216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Packet Structure</a:t>
            </a:r>
            <a:endParaRPr lang="en-US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80160" y="3163824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Byte-by-byte breakdown of both packet formats</a:t>
            </a:r>
            <a:endParaRPr lang="en-US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529584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04</a:t>
            </a:r>
            <a:endParaRPr lang="en-US" b="1" dirty="0">
              <a:solidFill>
                <a:srgbClr val="02C39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3529584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Side-by-Side Comparison</a:t>
            </a:r>
            <a:endParaRPr lang="en-US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Every key difference in one table</a:t>
            </a:r>
            <a:endParaRPr lang="en-US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187952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05</a:t>
            </a:r>
            <a:endParaRPr lang="en-US" b="1" dirty="0">
              <a:solidFill>
                <a:srgbClr val="02C39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STM32 Implementation</a:t>
            </a:r>
            <a:endParaRPr lang="en-US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4480560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Real code: sbus.c / sbus.h and ibus.c / ibus.h</a:t>
            </a:r>
            <a:endParaRPr lang="en-US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06</a:t>
            </a:r>
            <a:endParaRPr lang="en-US" b="1" dirty="0">
              <a:solidFill>
                <a:srgbClr val="02C39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80160" y="484632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Worked Examples</a:t>
            </a:r>
            <a:endParaRPr lang="en-US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80160" y="5138928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Actual channel values → actual packet bytes, hand-verified</a:t>
            </a:r>
            <a:endParaRPr lang="en-US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5504688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07</a:t>
            </a:r>
            <a:endParaRPr lang="en-US" b="1" dirty="0">
              <a:solidFill>
                <a:srgbClr val="02C39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80160" y="5504688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Debugging Lessons</a:t>
            </a:r>
            <a:endParaRPr lang="en-US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80160" y="5797296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Real build errors we hit and how we fixed them</a:t>
            </a:r>
            <a:endParaRPr lang="en-US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02</a:t>
            </a:r>
            <a:endParaRPr lang="en-US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2809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01 — BASICS</a:t>
            </a:r>
            <a:endParaRPr lang="en-US" sz="1700" b="1" kern="0" spc="200" dirty="0">
              <a:solidFill>
                <a:srgbClr val="02809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What is SBUS?</a:t>
            </a:r>
            <a:endParaRPr lang="en-US" sz="32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02130"/>
            <a:ext cx="6035040" cy="11842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SBUS (Serial BUS) </a:t>
            </a:r>
            <a:r>
              <a:rPr lang="en-US" sz="17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is a serial protocol developed by Futaba to send RC receiver channel data to a flight controller or servo controller using a single wire, instead of one wire per channel.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3154680"/>
            <a:ext cx="57607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Carries 16 proportional channels in one continuous frame</a:t>
            </a:r>
            <a:endParaRPr lang="en-US" sz="1800" dirty="0">
              <a:solidFill>
                <a:srgbClr val="1A2B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3732530"/>
            <a:ext cx="5760720" cy="609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Signal is inverted (idle HIGH) — most flight controllers invert it internally</a:t>
            </a:r>
            <a:endParaRPr lang="en-US" sz="1800" dirty="0">
              <a:solidFill>
                <a:srgbClr val="1A2B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4462780"/>
            <a:ext cx="5760720" cy="3848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Uses UART 8E2 framing: 8 data bits, Even parity, 2 stopbits</a:t>
            </a:r>
            <a:endParaRPr lang="en-US" sz="1800" dirty="0">
              <a:solidFill>
                <a:srgbClr val="1A2B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560" y="4892040"/>
            <a:ext cx="5760720" cy="60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Very common in FPV drones and fixed-wing setups (Futaba, FrSky, many others)</a:t>
            </a:r>
            <a:endParaRPr lang="en-US" sz="1800" dirty="0">
              <a:solidFill>
                <a:srgbClr val="1A2B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06640" y="146304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0A1F44"/>
          </a:solidFill>
        </p:spPr>
      </p:sp>
      <p:pic>
        <p:nvPicPr>
          <p:cNvPr id="15" name="Image 0" descr="icon_lay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9164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80960" y="22860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Frame size</a:t>
            </a:r>
            <a:endParaRPr lang="en-US" sz="1700" b="1" dirty="0">
              <a:solidFill>
                <a:srgbClr val="00A89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680960" y="2542032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25 bytes</a:t>
            </a:r>
            <a:endParaRPr lang="en-US" sz="3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680960" y="32461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Refresh rate</a:t>
            </a:r>
            <a:endParaRPr lang="en-US" sz="1700" b="1" dirty="0">
              <a:solidFill>
                <a:srgbClr val="00A89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80960" y="3502152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~7 ms typical</a:t>
            </a:r>
            <a:endParaRPr lang="en-US" sz="22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680960" y="4206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Channel resolution</a:t>
            </a:r>
            <a:endParaRPr lang="en-US" sz="1700" b="1" dirty="0">
              <a:solidFill>
                <a:srgbClr val="00A89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680960" y="4462272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11-bit (172–1811)</a:t>
            </a:r>
            <a:endParaRPr lang="en-US" sz="22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680960" y="51663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Center value ≈ 992</a:t>
            </a:r>
            <a:endParaRPr lang="en-US" sz="1800" i="1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03</a:t>
            </a:r>
            <a:endParaRPr lang="en-US" sz="18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C39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01 — BASICS</a:t>
            </a:r>
            <a:endParaRPr lang="en-US" b="1" kern="0" spc="200" dirty="0">
              <a:solidFill>
                <a:srgbClr val="02C39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What is IBUS?</a:t>
            </a:r>
            <a:endParaRPr lang="en-US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035040" cy="12401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IBUS </a:t>
            </a:r>
            <a:r>
              <a:rPr lang="en-US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is a serial protocol developed by FlySky, serving the same purpose as SBUS — one wire carrying all RC channel data — but with a simpler, non-inverted, checksum-protected frame.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2931160"/>
            <a:ext cx="5760720" cy="680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Carries 14 channels, each a plain 16-bit value (no bit-packing)</a:t>
            </a:r>
            <a:endParaRPr lang="en-US" dirty="0">
              <a:solidFill>
                <a:srgbClr val="1A2B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741420"/>
            <a:ext cx="5760720" cy="5911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Signal is normal / non-inverted — no inverter circuit needed on the PCB</a:t>
            </a:r>
            <a:endParaRPr lang="en-US" dirty="0">
              <a:solidFill>
                <a:srgbClr val="1A2B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4332605"/>
            <a:ext cx="5760720" cy="614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Uses standard UART 8N1 framing: 8 data bits, No parity, 1 stop bit</a:t>
            </a:r>
            <a:endParaRPr lang="en-US" dirty="0">
              <a:solidFill>
                <a:srgbClr val="1A2B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560" y="4947285"/>
            <a:ext cx="5760720" cy="3467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Includes a 2-byte checksum for error detection — SBUS has none</a:t>
            </a:r>
            <a:endParaRPr lang="en-US" dirty="0">
              <a:solidFill>
                <a:srgbClr val="1A2B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5531485"/>
            <a:ext cx="5760720" cy="4908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Common on FlySky receivers (FS-iA6B, FS-X6B, etc.)</a:t>
            </a:r>
            <a:endParaRPr lang="en-US" dirty="0">
              <a:solidFill>
                <a:srgbClr val="1A2B3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06640" y="146304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028090"/>
          </a:solidFill>
        </p:spPr>
      </p:sp>
      <p:pic>
        <p:nvPicPr>
          <p:cNvPr id="17" name="Image 0" descr="icon_exch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9164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80960" y="22860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F5E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Frame size</a:t>
            </a:r>
            <a:endParaRPr lang="en-US" b="1" dirty="0">
              <a:solidFill>
                <a:srgbClr val="D6F5E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80960" y="2542032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32 bytes</a:t>
            </a:r>
            <a:endParaRPr lang="en-US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680960" y="32461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F5E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Refresh rate</a:t>
            </a:r>
            <a:endParaRPr lang="en-US" b="1" dirty="0">
              <a:solidFill>
                <a:srgbClr val="D6F5E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680960" y="3502152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~7 ms typical</a:t>
            </a:r>
            <a:endParaRPr lang="en-US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680960" y="4206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F5E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Channel resolution</a:t>
            </a:r>
            <a:endParaRPr lang="en-US" b="1" dirty="0">
              <a:solidFill>
                <a:srgbClr val="D6F5E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680960" y="4462272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16-bit (1000–2000)</a:t>
            </a:r>
            <a:endParaRPr lang="en-US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680960" y="51663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8FFF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Center value = 1500</a:t>
            </a:r>
            <a:endParaRPr lang="en-US" i="1" dirty="0">
              <a:solidFill>
                <a:srgbClr val="E8FFF8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04</a:t>
            </a:r>
            <a:endParaRPr lang="en-US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809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02 — HOW IT WORKS</a:t>
            </a:r>
            <a:endParaRPr lang="en-US" sz="2000" b="1" kern="0" spc="200" dirty="0">
              <a:solidFill>
                <a:srgbClr val="02809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SBUS: 11-bit channels packed into a byte stream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Each of the 16 channels only needs 11 bits (0–2047), not a full byte or word. SBUS squeezes them together edge-to-edge so no bits are wasted — this is called bit-packing.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0A1F44"/>
          </a:solidFill>
        </p:spPr>
      </p:sp>
      <p:sp>
        <p:nvSpPr>
          <p:cNvPr id="6" name="Text 4"/>
          <p:cNvSpPr/>
          <p:nvPr/>
        </p:nvSpPr>
        <p:spPr>
          <a:xfrm>
            <a:off x="822960" y="22860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"bucket" technique</a:t>
            </a:r>
            <a:endParaRPr lang="en-US" sz="2000" b="1" dirty="0">
              <a:solidFill>
                <a:srgbClr val="02C39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515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 32-bit accumulator holds bits until it has 8+ — then the lowest byte is peeled off into the packet, and the bucket keeps the leftover bits for the next channel.</a:t>
            </a: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64240" cy="23774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9" name="Text 7"/>
          <p:cNvSpPr/>
          <p:nvPr/>
        </p:nvSpPr>
        <p:spPr>
          <a:xfrm>
            <a:off x="822960" y="3840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bucket |= ((uint32_t)(channel[i] &amp; 0x07FF)) &lt;&lt; bitInBucket;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105656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bitInBucket += 11;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370832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636008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while (bitInBucket &gt;= 8) {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901184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   sbusPacket[byteIndex++] = (uint8_t)(bucket &amp; 0xFF);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   bucket &gt;&gt;= 8;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5431536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   bitInBucket -= 8;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5696712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}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05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02 — HOW IT WORKS</a:t>
            </a:r>
            <a:endParaRPr lang="en-US" sz="2000" b="1" kern="0" spc="200" dirty="0">
              <a:solidFill>
                <a:srgbClr val="02C39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IBUS: plain 16-bit values + checksum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IBUS doesn't bit-pack. Each channel gets its own 2 bytes (low byte, then high byte — little-endian). The trade-off for the simpler layout is a larger frame, made safe with a checksum.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822960" y="220345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FFF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Why the checksum matters</a:t>
            </a:r>
            <a:endParaRPr lang="en-US" sz="2000" b="1" dirty="0">
              <a:solidFill>
                <a:srgbClr val="E8FFF8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628900"/>
            <a:ext cx="1051560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0FF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Start from 0xFFFF, subtract every byte in the frame (except the checksum itself). The receiver</a:t>
            </a:r>
            <a:r>
              <a:rPr lang="en-IN" altLang="en-US" sz="2000" dirty="0">
                <a:solidFill>
                  <a:srgbClr val="F0FF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</a:t>
            </a:r>
            <a:r>
              <a:rPr lang="en-US" sz="2000" dirty="0">
                <a:solidFill>
                  <a:srgbClr val="F0FF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repeats the same sum — if it doesn't match, the packet is dropped instead of driving a servo with corrupted data.</a:t>
            </a:r>
            <a:endParaRPr lang="en-US" sz="2000" dirty="0">
              <a:solidFill>
                <a:srgbClr val="F0FF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64240" cy="23774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9" name="Text 7"/>
          <p:cNvSpPr/>
          <p:nvPr/>
        </p:nvSpPr>
        <p:spPr>
          <a:xfrm>
            <a:off x="822960" y="384048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ibusPacket[2 + i*2]     = (uint8_t)(val &amp; 0xFF);          // low byte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105656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ibusPacket[2 + i*2 + 1] = (uint8_t)((val &gt;&gt; 8) &amp; 0xFF);   // high byte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370832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636008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checksum = 0xFFFF;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901184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for (i = 0; i &lt; 30; i++) checksum -= ibusPacket[i];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ibusPacket[30] = checksum &amp; 0xFF;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5431536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F5D6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ibusPacket[31] = (checksum &gt;&gt; 8) &amp; 0xFF;</a:t>
            </a:r>
            <a:endParaRPr lang="en-US" sz="2000" dirty="0">
              <a:solidFill>
                <a:srgbClr val="A9F5D6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06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809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03 — PACKET STRUCTURE</a:t>
            </a:r>
            <a:endParaRPr lang="en-US" sz="2000" b="1" kern="0" spc="200" dirty="0">
              <a:solidFill>
                <a:srgbClr val="02809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SBUS Frame — 25 Bytes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744345"/>
            <a:ext cx="914400" cy="1419860"/>
          </a:xfrm>
          <a:prstGeom prst="rect">
            <a:avLst/>
          </a:prstGeom>
          <a:solidFill>
            <a:srgbClr val="0A1F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1051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Byte 0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121535"/>
            <a:ext cx="914400" cy="12274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Start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0x0F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63040" y="1737360"/>
            <a:ext cx="6217920" cy="1425575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1894205"/>
            <a:ext cx="6217920" cy="13595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Byte 1–22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3040" y="1739900"/>
            <a:ext cx="6217920" cy="141414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16 channels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(11-bit packed)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80960" y="1737995"/>
            <a:ext cx="1463040" cy="1426210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0" y="1751965"/>
            <a:ext cx="1463040" cy="142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Byte 23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0" y="1751965"/>
            <a:ext cx="1463040" cy="13830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failsafe</a:t>
            </a: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Flags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(etc.)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914400" cy="1416685"/>
          </a:xfrm>
          <a:prstGeom prst="rect">
            <a:avLst/>
          </a:prstGeom>
          <a:solidFill>
            <a:srgbClr val="0A1F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0" y="181051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Byte 24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0" y="2121408"/>
            <a:ext cx="9144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End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0x00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366649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Field-by-field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Start byte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23160" y="425196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0x0F</a:t>
            </a:r>
            <a:endParaRPr lang="en-US" sz="2000" b="1" dirty="0">
              <a:solidFill>
                <a:srgbClr val="028090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86200" y="425704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Fixed marker — tells receiver a new frame begins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4360" y="47548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Channel data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23160" y="475488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22 bytes</a:t>
            </a:r>
            <a:endParaRPr lang="en-US" sz="2000" b="1" dirty="0">
              <a:solidFill>
                <a:srgbClr val="028090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86200" y="4736465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16 channels × 11 bits, bit-packed with no gaps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4360" y="52578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Flag byte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23160" y="52578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1 byte</a:t>
            </a:r>
            <a:endParaRPr lang="en-US" sz="2000" b="1" dirty="0">
              <a:solidFill>
                <a:srgbClr val="028090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91610" y="525780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Digital ch17/18, frame-lost, failsafe bits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4360" y="580644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End byte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423160" y="576072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0x00</a:t>
            </a:r>
            <a:endParaRPr lang="en-US" sz="2000" b="1" dirty="0">
              <a:solidFill>
                <a:srgbClr val="028090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86200" y="580644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Fixed marker — closes the frame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07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03 — PACKET STRUCTURE</a:t>
            </a:r>
            <a:endParaRPr lang="en-US" sz="2000" b="1" kern="0" spc="200" dirty="0">
              <a:solidFill>
                <a:srgbClr val="02C39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IBUS Frame — 32 Bytes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45920" cy="1466850"/>
          </a:xfrm>
          <a:prstGeom prst="rect">
            <a:avLst/>
          </a:prstGeom>
          <a:solidFill>
            <a:srgbClr val="0A1F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Byte 0–1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121535"/>
            <a:ext cx="1645920" cy="10534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Header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0x20 0x40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94560" y="1737360"/>
            <a:ext cx="6035040" cy="1447165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94560" y="1810512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Byte 2–29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94560" y="2121408"/>
            <a:ext cx="60350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14 channels</a:t>
            </a:r>
            <a:r>
              <a:rPr lang="en-IN" alt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 </a:t>
            </a: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(16-bit each)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1828800" cy="1423670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81051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Byte 30–31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0" y="2121408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Checksum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0xFFFF − sum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683635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Field-by-field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248785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Length byte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77440" y="42672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0x20 (32)</a:t>
            </a:r>
            <a:endParaRPr lang="en-US" sz="2000" b="1" dirty="0">
              <a:solidFill>
                <a:srgbClr val="028090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69080" y="4248785"/>
            <a:ext cx="5760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Fixed — states total frame length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4777740"/>
            <a:ext cx="1828800" cy="554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Command byte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77440" y="4850765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0x40 (64)</a:t>
            </a:r>
            <a:endParaRPr lang="en-US" sz="2000" b="1" dirty="0">
              <a:solidFill>
                <a:srgbClr val="028090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69080" y="4850765"/>
            <a:ext cx="5760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Fixed — identifies this as channel-data frame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4360" y="543433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Channel data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23160" y="543433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28 bytes</a:t>
            </a:r>
            <a:endParaRPr lang="en-US" sz="2000" b="1" dirty="0">
              <a:solidFill>
                <a:srgbClr val="028090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069080" y="5434330"/>
            <a:ext cx="5760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14 channels × 2 bytes, little-endian, no packing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590169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Checksum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377440" y="590169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2 bytes</a:t>
            </a:r>
            <a:endParaRPr lang="en-US" sz="2000" b="1" dirty="0">
              <a:solidFill>
                <a:srgbClr val="028090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069080" y="5901690"/>
            <a:ext cx="5760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0xFFFF minus sum of bytes 0–29, little-endian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08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COMPARISON</a:t>
            </a:r>
            <a:endParaRPr lang="en-US" sz="2000" b="1" kern="0" spc="200" dirty="0">
              <a:solidFill>
                <a:srgbClr val="02C3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SBUS vs IBUS — Side by Side</a:t>
            </a:r>
            <a:endParaRPr lang="en-US" sz="2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017520" cy="411480"/>
          </a:xfrm>
          <a:prstGeom prst="rect">
            <a:avLst/>
          </a:prstGeom>
          <a:solidFill>
            <a:srgbClr val="028090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566160" y="1417320"/>
            <a:ext cx="4206240" cy="411480"/>
          </a:xfrm>
          <a:prstGeom prst="rect">
            <a:avLst/>
          </a:prstGeom>
          <a:solidFill>
            <a:srgbClr val="028090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417320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SBUS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0" y="1417320"/>
            <a:ext cx="4206240" cy="411480"/>
          </a:xfrm>
          <a:prstGeom prst="rect">
            <a:avLst/>
          </a:prstGeom>
          <a:solidFill>
            <a:srgbClr val="028090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1417320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IBUS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01752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828800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Futaba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0" y="1828800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828800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FlySky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2267712"/>
            <a:ext cx="301752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67712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Baud rate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66160" y="2267712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267712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100,000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72400" y="2267712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2267712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115,200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2706624"/>
            <a:ext cx="301752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706624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format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566160" y="2706624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706624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8E2 (8 data, Even parity, 2 stop)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772400" y="2706624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706624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8N1 (8 data, No parity, 1 stop)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3145536"/>
            <a:ext cx="301752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45536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 polarity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566160" y="3145536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145536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Inverted (idle HIGH)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0" y="3145536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9560" y="3145536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/ non-inverted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3584448"/>
            <a:ext cx="301752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584448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Channels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566160" y="3584448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3584448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772400" y="3584448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9560" y="3584448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4023360"/>
            <a:ext cx="301752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023360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 encoding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566160" y="4023360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4023360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11-bit, bit-packed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772400" y="4023360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4023360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16-bit, plain (unpacked)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48640" y="4462272"/>
            <a:ext cx="301752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4462272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 range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566160" y="4462272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03320" y="4462272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 – 1811 (mid ≈ 992)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772400" y="4462272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0" y="4462272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1000 – 2000 (mid = 1500)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48640" y="4901184"/>
            <a:ext cx="301752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901184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size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566160" y="4901184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03320" y="4901184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 bytes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772400" y="4901184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09560" y="4901184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bytes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48640" y="5340096"/>
            <a:ext cx="301752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5340096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checking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3566160" y="5340096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03320" y="5340096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772400" y="5340096"/>
            <a:ext cx="4206240" cy="438912"/>
          </a:xfrm>
          <a:prstGeom prst="rect">
            <a:avLst/>
          </a:prstGeom>
          <a:solidFill>
            <a:srgbClr val="0A1F44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09560" y="5340096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16-bit checksum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48640" y="5779008"/>
            <a:ext cx="301752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" y="5779008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 hardware</a:t>
            </a:r>
            <a:endParaRPr lang="en-US" sz="2000" b="1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3566160" y="5779008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03320" y="5779008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 inverter often needed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772400" y="5779008"/>
            <a:ext cx="4206240" cy="438912"/>
          </a:xfrm>
          <a:prstGeom prst="rect">
            <a:avLst/>
          </a:prstGeom>
          <a:solidFill>
            <a:srgbClr val="12294D"/>
          </a:solidFill>
          <a:ln w="6350">
            <a:solidFill>
              <a:srgbClr val="1E3A6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09560" y="5779008"/>
            <a:ext cx="3931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— direct UART connection</a:t>
            </a:r>
            <a:endParaRPr lang="en-US" sz="2000" dirty="0">
              <a:solidFill>
                <a:srgbClr val="E8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2000" dirty="0">
              <a:solidFill>
                <a:srgbClr val="5B6B7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2809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05 — STM32 IMPLEMENTATION</a:t>
            </a:r>
            <a:endParaRPr lang="en-US" sz="1700" b="1" kern="0" spc="200" dirty="0">
              <a:solidFill>
                <a:srgbClr val="02809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UART Configuration on STM32CubeMX</a:t>
            </a:r>
            <a:endParaRPr lang="en-US" sz="28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394960" cy="502920"/>
          </a:xfrm>
          <a:prstGeom prst="rect">
            <a:avLst/>
          </a:prstGeom>
          <a:solidFill>
            <a:srgbClr val="0A1F44"/>
          </a:solidFill>
        </p:spPr>
      </p:sp>
      <p:sp>
        <p:nvSpPr>
          <p:cNvPr id="7" name="Text 5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SBUS — huart2.Init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5029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9" name="Text 7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IBUS — huart2.Init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BaudRate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80360" y="233172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115200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770632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WordLength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80360" y="2770632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UART_WORDLENGTH_8B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209544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StopBits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80360" y="3209544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UART_STOPBITS_2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648456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Parity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80360" y="3648456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UART_PARITY_EVEN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4087368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Mode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880360" y="408736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UART_MODE_TX_RX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46520" y="23317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BaudRate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49640" y="233172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115200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46520" y="2770632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WordLength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49640" y="2770632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UART_WORDLENGTH_8B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46520" y="3209544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StopBits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49640" y="3209544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UART_STOPBITS_1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46520" y="3648456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Parity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49640" y="3648456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UART_PARITY_NONE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46520" y="4087368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Mode</a:t>
            </a:r>
            <a:endParaRPr lang="en-US" sz="1700" dirty="0">
              <a:solidFill>
                <a:srgbClr val="5B6B73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49640" y="408736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UART_MODE_TX_RX</a:t>
            </a:r>
            <a:endParaRPr lang="en-US" sz="1700" b="1" dirty="0">
              <a:solidFill>
                <a:srgbClr val="0A1F44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77240" y="4617720"/>
            <a:ext cx="4937760" cy="822960"/>
          </a:xfrm>
          <a:prstGeom prst="rect">
            <a:avLst/>
          </a:prstGeom>
          <a:solidFill>
            <a:srgbClr val="FFF4E6"/>
          </a:solidFill>
        </p:spPr>
      </p:sp>
      <p:sp>
        <p:nvSpPr>
          <p:cNvPr id="31" name="Text 29"/>
          <p:cNvSpPr/>
          <p:nvPr/>
        </p:nvSpPr>
        <p:spPr>
          <a:xfrm>
            <a:off x="914400" y="4754880"/>
            <a:ext cx="4663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A5A0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⚠ Needs a hardware signal inverter — SBUS idles HIGH, UART idles LOW.</a:t>
            </a:r>
            <a:endParaRPr lang="en-US" sz="1350" i="1" dirty="0">
              <a:solidFill>
                <a:srgbClr val="8A5A0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46520" y="4617720"/>
            <a:ext cx="4937760" cy="822960"/>
          </a:xfrm>
          <a:prstGeom prst="rect">
            <a:avLst/>
          </a:prstGeom>
          <a:solidFill>
            <a:srgbClr val="E6FBF4"/>
          </a:solidFill>
        </p:spPr>
      </p:sp>
      <p:sp>
        <p:nvSpPr>
          <p:cNvPr id="33" name="Text 31"/>
          <p:cNvSpPr/>
          <p:nvPr/>
        </p:nvSpPr>
        <p:spPr>
          <a:xfrm>
            <a:off x="6583680" y="4754880"/>
            <a:ext cx="4663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46A5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Direct TX-to-RX wiring — no inverter circuit required.</a:t>
            </a:r>
            <a:endParaRPr lang="en-US" sz="1350" i="1" dirty="0">
              <a:solidFill>
                <a:srgbClr val="046A54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10</a:t>
            </a:r>
            <a:endParaRPr lang="en-US" sz="18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— STM32 IMPLEMENTATION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sbus.c — updateSbusPacket()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" name="Text 3"/>
          <p:cNvSpPr/>
          <p:nvPr/>
        </p:nvSpPr>
        <p:spPr>
          <a:xfrm>
            <a:off x="822960" y="141732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"sbus.h"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63220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uint8_t sbusPacket[25];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61972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76856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updateSbusPacket(uint16_t *channel)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49174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0662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sbusPacket[0]  = 0x0F;      // start byte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92150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sbusPacket[24] = 0x00;      // end byte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136392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uint32_t bucket = 0;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351276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uint8_t bitInBucket = 0;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uint8_t byteIndex = 1;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8104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99592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16; i++) {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10812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bucket |= ((uint32_t)(channel[i] &amp; 0x07FF)) &lt;&lt; bitInBucket;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425696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bitInBucket += 11;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64058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while (bitInBucket &gt;= 8) {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85546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sbusPacket[byteIndex++] = (uint8_t)(bucket &amp; 0xFF);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07034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bucket &gt;&gt;= 8;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285232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bitInBucket -= 8;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500116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71500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92988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sbusPacket[23] = 0x00;      // flag byte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614476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— STM32 IMPLEMENTATION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ibus.c — updateIbusPacket()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" name="Text 3"/>
          <p:cNvSpPr/>
          <p:nvPr/>
        </p:nvSpPr>
        <p:spPr>
          <a:xfrm>
            <a:off x="822960" y="141732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"ibus.h"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63220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uint8_t ibusPacket[IBUS_PACKET_LEN];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61972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76856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updateIbusPacket(uint16_t *channel, uint8_t num_of_channels)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49174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0662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ibusPacket[0] = 0x20;       // length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92150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ibusPacket[1] = 0x40;       // command: channel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136392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351276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uint16_t checksum = 0xFFFF;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8104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IBUS_NUM_CHANNELS; i++) {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99592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uint16_t val = (i &lt; num_of_channels) ? channel[i] : 1500;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10812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ibusPacket[2 + i*2]     = (uint8_t)(val &amp; 0xFF);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425696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ibusPacket[2 + i*2 + 1] = (uint8_t)((val &gt;&gt; 8) &amp; 0xFF);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64058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85546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07034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30; i++)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285232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checksum -= ibusPacket[i];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500116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71500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ibusPacket[30] = (uint8_t)(checksum &amp; 0xFF);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92988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ibusPacket[31] = (uint8_t)((checksum &gt;&gt; 8) &amp; 0xFF);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614476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— LIBRARY STRUCTURE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F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split into .h / .c files?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</p:spPr>
      </p:sp>
      <p:pic>
        <p:nvPicPr>
          <p:cNvPr id="5" name="Image 0" descr="icon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4533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44752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8720" y="1755648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 sbus.c/.h or ibus.c/.h into any new project without touching main.c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</p:spPr>
      </p:sp>
      <p:pic>
        <p:nvPicPr>
          <p:cNvPr id="9" name="Image 1" descr="icon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36829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267712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main.c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188720" y="2578608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main.c only calls the function — the implementation stays out of sight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</p:spPr>
      </p:sp>
      <p:pic>
        <p:nvPicPr>
          <p:cNvPr id="13" name="Image 2" descr="icon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1912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90672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Team-safe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188720" y="3401568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 can work on UART/other peripherals without colliding with this code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</p:spPr>
      </p:sp>
      <p:pic>
        <p:nvPicPr>
          <p:cNvPr id="17" name="Image 3" descr="icon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01421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913632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practice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188720" y="4224528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STM32CubeIDE project convention: one module = one .c/.h pair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1" name="Text 15"/>
          <p:cNvSpPr/>
          <p:nvPr/>
        </p:nvSpPr>
        <p:spPr>
          <a:xfrm>
            <a:off x="822960" y="5029200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#ifndef IBUS_H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22960" y="5248656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#define IBUS_H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468112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extern uint8_t ibusPacket[IBUS_PACKET_LEN];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22960" y="5687568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updateIbusPacket(uint16_t *channel, uint8_t num_of_channels);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22960" y="5907024"/>
            <a:ext cx="10515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#endif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WORKED EXAMPLE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SBUS: Input Channels → Output Packet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Input: 16 channels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channel[0..8]  = 992   (center)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channel[9..15] = 172   (min)</a:t>
            </a:r>
            <a:endParaRPr lang="en-US" sz="1800" dirty="0"/>
          </a:p>
        </p:txBody>
      </p:sp>
      <p:pic>
        <p:nvPicPr>
          <p:cNvPr id="7" name="Image 0" descr="icon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141732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25-byte packet (verified)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766560" y="1783080"/>
            <a:ext cx="4846320" cy="10058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0" name="Text 7"/>
          <p:cNvSpPr/>
          <p:nvPr/>
        </p:nvSpPr>
        <p:spPr>
          <a:xfrm>
            <a:off x="6949440" y="1874520"/>
            <a:ext cx="45720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0f e0 03 1f f8 c0 07 3e f0 81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0f 7c e0 63 05 2b 58 c1 0a 56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b0 82 15 00 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017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Verification checklist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502152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0"/>
          <p:cNvSpPr/>
          <p:nvPr/>
        </p:nvSpPr>
        <p:spPr>
          <a:xfrm>
            <a:off x="777240" y="3383280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Byte 0 = 0x0F (start marker) — correct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959352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5" name="Text 12"/>
          <p:cNvSpPr/>
          <p:nvPr/>
        </p:nvSpPr>
        <p:spPr>
          <a:xfrm>
            <a:off x="777240" y="3840480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Byte 24 = 0x00 (end marker) — correct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4416552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7" name="Text 14"/>
          <p:cNvSpPr/>
          <p:nvPr/>
        </p:nvSpPr>
        <p:spPr>
          <a:xfrm>
            <a:off x="777240" y="4297680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Cross-checked against a standalone C simulation of the exact same packing loop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4873752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9" name="Text 16"/>
          <p:cNvSpPr/>
          <p:nvPr/>
        </p:nvSpPr>
        <p:spPr>
          <a:xfrm>
            <a:off x="777240" y="4754880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attempt showed bit-7 flipped on odd-parity bytes — traced to the logic analyzer misreading the 9th (parity) bit, not a code bug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WORKED EXAMPLE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IBUS: Input Channels → Output Packet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Input: 14 channels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channel[0..8]  = 1500  (center)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2B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channel[9..13] = 1000  (min)</a:t>
            </a:r>
            <a:endParaRPr lang="en-US" sz="1800" dirty="0"/>
          </a:p>
        </p:txBody>
      </p:sp>
      <p:pic>
        <p:nvPicPr>
          <p:cNvPr id="7" name="Image 0" descr="icon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141732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32-byte packet (verified)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766560" y="1783080"/>
            <a:ext cx="4846320" cy="10058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0" name="Text 7"/>
          <p:cNvSpPr/>
          <p:nvPr/>
        </p:nvSpPr>
        <p:spPr>
          <a:xfrm>
            <a:off x="6949440" y="1847088"/>
            <a:ext cx="4572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 40 dc 05 dc 05 dc 05 dc 05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dc 05 dc 05 dc 05 dc 05 dc 05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e8 03 e8 03 e8 03 e8 03 e8 03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F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1f f3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0175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Verification checklist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502152"/>
            <a:ext cx="73152" cy="7315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3" name="Text 10"/>
          <p:cNvSpPr/>
          <p:nvPr/>
        </p:nvSpPr>
        <p:spPr>
          <a:xfrm>
            <a:off x="777240" y="3383280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Byte 0-1 = 0x20 0x40 (length + command) — correct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959352"/>
            <a:ext cx="73152" cy="7315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5" name="Text 12"/>
          <p:cNvSpPr/>
          <p:nvPr/>
        </p:nvSpPr>
        <p:spPr>
          <a:xfrm>
            <a:off x="777240" y="3840480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Checksum recomputed independently in Python: 0xF31F → bytes 1F F3 — matches exactly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4416552"/>
            <a:ext cx="73152" cy="7315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7" name="Text 14"/>
          <p:cNvSpPr/>
          <p:nvPr/>
        </p:nvSpPr>
        <p:spPr>
          <a:xfrm>
            <a:off x="777240" y="4297680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14 channels decoded back to 1500 / 1000 correctly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4873752"/>
            <a:ext cx="73152" cy="7315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9" name="Text 16"/>
          <p:cNvSpPr/>
          <p:nvPr/>
        </p:nvSpPr>
        <p:spPr>
          <a:xfrm>
            <a:off x="777240" y="4754880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test run had channel[13] = 0 instead of 1000 — traced to a missing 14th value in the channel[] array initializer in main.c, not a bug in updateIbusPacket()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DEBUGGING LESSONS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 build errors we hit (and fixed)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1185" y="1809750"/>
            <a:ext cx="11064240" cy="700405"/>
          </a:xfrm>
          <a:prstGeom prst="roundRect">
            <a:avLst>
              <a:gd name="adj" fmla="val 5435"/>
            </a:avLst>
          </a:prstGeom>
          <a:solidFill>
            <a:srgbClr val="12294D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1185" y="1296670"/>
            <a:ext cx="5202555" cy="309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semicolon after prototype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699895"/>
            <a:ext cx="4380230" cy="7626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800" i="1" dirty="0">
              <a:solidFill>
                <a:srgbClr val="FF9B9B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FF9B9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"old-style parameter declarations"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33490" y="1781810"/>
            <a:ext cx="5005070" cy="5683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function prototype in a .h file needs a trailing 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45130"/>
            <a:ext cx="11064240" cy="728345"/>
          </a:xfrm>
          <a:prstGeom prst="roundRect">
            <a:avLst>
              <a:gd name="adj" fmla="val 5435"/>
            </a:avLst>
          </a:prstGeom>
          <a:solidFill>
            <a:srgbClr val="12294D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825" y="254381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signature mismatch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035935"/>
            <a:ext cx="51587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9B9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"too few arguments to function"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91760" y="2830195"/>
            <a:ext cx="6146800" cy="6032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main.c call and the .h declaration must have identical parameter lists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1185" y="4105275"/>
            <a:ext cx="11231880" cy="672465"/>
          </a:xfrm>
          <a:prstGeom prst="roundRect">
            <a:avLst>
              <a:gd name="adj" fmla="val 5435"/>
            </a:avLst>
          </a:prstGeom>
          <a:solidFill>
            <a:srgbClr val="12294D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05098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defined twice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172585"/>
            <a:ext cx="4768215" cy="579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9B9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"multiple definition of</a:t>
            </a:r>
            <a:r>
              <a:rPr lang="en-IN" altLang="en-US" sz="1800" i="1" dirty="0">
                <a:solidFill>
                  <a:srgbClr val="FF9B9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800" i="1" dirty="0">
                <a:solidFill>
                  <a:srgbClr val="FF9B9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sbusPacket"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3645" y="4236085"/>
            <a:ext cx="5035550" cy="5086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 in the .h announces it; exactly one .c file provides the real uint8_t array[]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99685"/>
            <a:ext cx="11064240" cy="480060"/>
          </a:xfrm>
          <a:prstGeom prst="roundRect">
            <a:avLst>
              <a:gd name="adj" fmla="val 5435"/>
            </a:avLst>
          </a:prstGeom>
          <a:solidFill>
            <a:srgbClr val="12294D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36211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Stale build artifacts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5156835"/>
            <a:ext cx="441388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9B9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"undefined reference" after a fix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20690" y="5029200"/>
            <a:ext cx="5817870" cy="4476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→ Clean, then rebuild — incremental builds can link against old .o files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3880" y="5934710"/>
            <a:ext cx="11064240" cy="807085"/>
          </a:xfrm>
          <a:prstGeom prst="roundRect">
            <a:avLst>
              <a:gd name="adj" fmla="val 5435"/>
            </a:avLst>
          </a:prstGeom>
          <a:solidFill>
            <a:srgbClr val="12294D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23179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Unbalanced parentheses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5855970"/>
            <a:ext cx="4390390" cy="8928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9B9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"expected ';' before ')' token"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4090" y="6080760"/>
            <a:ext cx="5284470" cy="438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(uint8_t)(val &gt;&gt; 8) &amp; 0xFF needs one more ( around (val &gt;&gt; 8) before &amp; 0xFF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B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809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WRAP-UP</a:t>
            </a:r>
            <a:endParaRPr lang="en-US" sz="2000" b="1" kern="0" spc="200" dirty="0">
              <a:solidFill>
                <a:srgbClr val="02809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Which one should you use?</a:t>
            </a:r>
            <a:endParaRPr lang="en-US" sz="2000" b="1" dirty="0">
              <a:solidFill>
                <a:srgbClr val="0A1F44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0A1F44"/>
          </a:solidFill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Choose SBUS if…</a:t>
            </a:r>
            <a:endParaRPr lang="en-US" sz="2000" b="1" dirty="0">
              <a:solidFill>
                <a:srgbClr val="02C39A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94585"/>
            <a:ext cx="4846320" cy="6673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•  Your receiver / flight controller only supports SBUS (very common in FPV)</a:t>
            </a: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199765"/>
            <a:ext cx="4846320" cy="4438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•  You need all 16 channels</a:t>
            </a: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767455"/>
            <a:ext cx="4846320" cy="7346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•  You already have signal-inverter hardware on your PCB</a:t>
            </a: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554220"/>
            <a:ext cx="4846320" cy="8293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E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•  Slightly smaller frame (25 B) matters for your update rate budget</a:t>
            </a:r>
            <a:endParaRPr lang="en-US" sz="2000" dirty="0">
              <a:solidFill>
                <a:srgbClr val="E8EE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Choose IBUS if…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846320" cy="6311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0FF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•  Your receiver is FlySky (or IBUS-native)</a:t>
            </a:r>
            <a:endParaRPr lang="en-US" sz="2000" dirty="0">
              <a:solidFill>
                <a:srgbClr val="F0FF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0" y="3115310"/>
            <a:ext cx="4846320" cy="7302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0FF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•  You want built-in error detection (checksum)</a:t>
            </a:r>
            <a:endParaRPr lang="en-US" sz="2000" dirty="0">
              <a:solidFill>
                <a:srgbClr val="F0FF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92240" y="4060825"/>
            <a:ext cx="4846320" cy="4406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0FF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•  You want to avoid extra inverter hardware</a:t>
            </a:r>
            <a:endParaRPr lang="en-US" sz="2000" dirty="0">
              <a:solidFill>
                <a:srgbClr val="F0FF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76060" y="4717669"/>
            <a:ext cx="48463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0FF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•  14 channels is enough for your setup</a:t>
            </a:r>
            <a:endParaRPr lang="en-US" sz="2000" dirty="0">
              <a:solidFill>
                <a:srgbClr val="F0FF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B6B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17</a:t>
            </a:r>
            <a:endParaRPr lang="en-US" sz="2000" dirty="0">
              <a:solidFill>
                <a:srgbClr val="5B6B7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73680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463040" y="4434840"/>
            <a:ext cx="9235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9269</Words>
  <Application>WPS Presentation</Application>
  <PresentationFormat>On-screen Show (16:9)</PresentationFormat>
  <Paragraphs>642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Consolas</vt:lpstr>
      <vt:lpstr>Consolas</vt:lpstr>
      <vt:lpstr>Consolas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priya</cp:lastModifiedBy>
  <cp:revision>2</cp:revision>
  <dcterms:created xsi:type="dcterms:W3CDTF">2026-07-14T09:38:00Z</dcterms:created>
  <dcterms:modified xsi:type="dcterms:W3CDTF">2026-07-14T11:08:42Z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DECA9C5633874C65B2A593BE34A0E5ED_12</vt:lpwstr>
  </property>
  <property fmtid="{D5CDD505-2E9C-101B-9397-08002B2CF9AE}" pid="3" name="KSOProductBuildVer">
    <vt:lpwstr>1033-12.1.0.26880</vt:lpwstr>
  </property>
</Properties>
</file>